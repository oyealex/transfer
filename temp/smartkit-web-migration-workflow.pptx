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  <p:defaultTextStyle>
    <a:defPPr>
      <a:defRPr lang="zh-CN">
        <a:latin typeface="Microsoft YaHei"/>
        <a:ea typeface="Microsoft YaHei"/>
      </a:defRPr>
    </a:defPPr>
  </p:defaultTextStyle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op Bar"/>
          <p:cNvSpPr/>
          <p:nvPr/>
        </p:nvSpPr>
        <p:spPr>
          <a:xfrm>
            <a:off x="0" y="0"/>
            <a:ext cx="12192000" cy="18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Title"/>
          <p:cNvSpPr/>
          <p:nvPr/>
        </p:nvSpPr>
        <p:spPr>
          <a:xfrm>
            <a:off x="520000" y="295000"/>
            <a:ext cx="9100000" cy="560000"/>
          </a:xfrm>
          <a:prstGeom prst="rect">
            <a:avLst/>
          </a:prstGeom>
          <a:noFill/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pPr algn="l"/>
            <a:r>
              <a:rPr lang="zh-CN"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SmartKit 工具箱 WEB 化改造十阶段工作流</a:t>
            </a:r>
            <a:endParaRPr lang="zh-CN" sz="3000"/>
          </a:p>
        </p:txBody>
      </p:sp>
      <p:sp>
        <p:nvSpPr>
          <p:cNvPr id="5" name="Subtitle"/>
          <p:cNvSpPr/>
          <p:nvPr/>
        </p:nvSpPr>
        <p:spPr>
          <a:xfrm>
            <a:off x="525000" y="845000"/>
            <a:ext cx="87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zh-CN" sz="140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从 Swing/AWT 反编译分析到前后端分离落地，再沉淀为可复用迁移方法</a:t>
            </a:r>
            <a:endParaRPr lang="zh-CN" sz="1400"/>
          </a:p>
        </p:txBody>
      </p:sp>
      <p:sp>
        <p:nvSpPr>
          <p:cNvPr id="6" name="P0-P10 Tag"/>
          <p:cNvSpPr/>
          <p:nvPr/>
        </p:nvSpPr>
        <p:spPr>
          <a:xfrm>
            <a:off x="10050000" y="360000"/>
            <a:ext cx="1500000" cy="42000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pPr algn="ctr"/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P0 - P10</a:t>
            </a:r>
            <a:endParaRPr lang="zh-CN" sz="1500"/>
          </a:p>
        </p:txBody>
      </p:sp>
      <p:sp>
        <p:nvSpPr>
          <p:cNvPr id="7" name="Column 1"/>
          <p:cNvSpPr/>
          <p:nvPr/>
        </p:nvSpPr>
        <p:spPr>
          <a:xfrm>
            <a:off x="520000" y="1370000"/>
            <a:ext cx="5050000" cy="397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anchor="t" lIns="145000" tIns="110000" rIns="145000" bIns="0">
            <a:spAutoFit/>
          </a:bodyPr>
          <a:lstStyle/>
          <a:p>
            <a:pPr algn="l"/>
            <a:r>
              <a:rPr lang="zh-CN" sz="18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分析建模</a:t>
            </a:r>
            <a:endParaRPr lang="zh-CN" sz="1850"/>
          </a:p>
          <a:p>
            <a:pPr algn="l"/>
            <a:r>
              <a:rPr lang="zh-CN" sz="116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P0-P5 以证据固化边界、规则、耦合、状态和 API 候选</a:t>
            </a:r>
            <a:endParaRPr lang="zh-CN" sz="1160"/>
          </a:p>
        </p:txBody>
      </p:sp>
      <p:sp>
        <p:nvSpPr>
          <p:cNvPr id="8" name="Column 2"/>
          <p:cNvSpPr/>
          <p:nvPr/>
        </p:nvSpPr>
        <p:spPr>
          <a:xfrm>
            <a:off x="6020000" y="1370000"/>
            <a:ext cx="2440000" cy="39700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txBody>
          <a:bodyPr wrap="square" anchor="t" lIns="145000" tIns="110000" rIns="145000" bIns="0">
            <a:spAutoFit/>
          </a:bodyPr>
          <a:lstStyle/>
          <a:p>
            <a:pPr algn="l"/>
            <a:r>
              <a:rPr lang="zh-CN" sz="18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设计生成</a:t>
            </a:r>
            <a:endParaRPr lang="zh-CN" sz="1850"/>
          </a:p>
          <a:p>
            <a:pPr algn="l"/>
            <a:r>
              <a:rPr lang="zh-CN" sz="116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P6-P7 将规则转成前端规格与可验证用例</a:t>
            </a:r>
            <a:endParaRPr lang="zh-CN" sz="1160"/>
          </a:p>
        </p:txBody>
      </p:sp>
      <p:sp>
        <p:nvSpPr>
          <p:cNvPr id="9" name="Column 3"/>
          <p:cNvSpPr/>
          <p:nvPr/>
        </p:nvSpPr>
        <p:spPr>
          <a:xfrm>
            <a:off x="8970000" y="1370000"/>
            <a:ext cx="2700000" cy="397000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</a:ln>
        </p:spPr>
        <p:txBody>
          <a:bodyPr wrap="square" anchor="t" lIns="145000" tIns="110000" rIns="145000" bIns="0">
            <a:spAutoFit/>
          </a:bodyPr>
          <a:lstStyle/>
          <a:p>
            <a:pPr algn="l"/>
            <a:r>
              <a:rPr lang="zh-CN" sz="18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落地闭环</a:t>
            </a:r>
            <a:endParaRPr lang="zh-CN" sz="1850"/>
          </a:p>
          <a:p>
            <a:pPr algn="l"/>
            <a:r>
              <a:rPr lang="zh-CN" sz="116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P8-P10 生成代码、交叉验证并沉淀方法</a:t>
            </a:r>
            <a:endParaRPr lang="zh-CN" sz="1160"/>
          </a:p>
        </p:txBody>
      </p:sp>
      <p:sp>
        <p:nvSpPr>
          <p:cNvPr id="10" name="Arrow 1"/>
          <p:cNvSpPr/>
          <p:nvPr/>
        </p:nvSpPr>
        <p:spPr>
          <a:xfrm>
            <a:off x="5680000" y="3070000"/>
            <a:ext cx="260000" cy="28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Arrow 2"/>
          <p:cNvSpPr/>
          <p:nvPr/>
        </p:nvSpPr>
        <p:spPr>
          <a:xfrm>
            <a:off x="8560000" y="3070000"/>
            <a:ext cx="260000" cy="280000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P0 全局边界"/>
          <p:cNvSpPr/>
          <p:nvPr/>
        </p:nvSpPr>
        <p:spPr>
          <a:xfrm>
            <a:off x="730000" y="2180000"/>
            <a:ext cx="1510000" cy="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91440" tIns="50000" rIns="91440" bIns="50000">
            <a:spAutoFit/>
          </a:bodyPr>
          <a:lstStyle/>
          <a:p>
            <a:pPr algn="l"/>
            <a:r>
              <a:rPr lang="zh-CN" sz="14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P0</a:t>
            </a:r>
            <a:endParaRPr lang="zh-CN" sz="1450"/>
          </a:p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全局边界</a:t>
            </a:r>
            <a:endParaRPr lang="zh-CN" sz="1750"/>
          </a:p>
          <a:p>
            <a:pPr algn="l"/>
            <a:r>
              <a:rPr lang="zh-CN" sz="122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范围、禁用依赖、复用原则</a:t>
            </a:r>
            <a:endParaRPr lang="zh-CN" sz="1220"/>
          </a:p>
        </p:txBody>
      </p:sp>
      <p:sp>
        <p:nvSpPr>
          <p:cNvPr id="13" name="P1 特性清单"/>
          <p:cNvSpPr/>
          <p:nvPr/>
        </p:nvSpPr>
        <p:spPr>
          <a:xfrm>
            <a:off x="2380000" y="2180000"/>
            <a:ext cx="1510000" cy="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91440" tIns="50000" rIns="91440" bIns="50000">
            <a:spAutoFit/>
          </a:bodyPr>
          <a:lstStyle/>
          <a:p>
            <a:pPr algn="l"/>
            <a:r>
              <a:rPr lang="zh-CN" sz="14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P1</a:t>
            </a:r>
            <a:endParaRPr lang="zh-CN" sz="1450"/>
          </a:p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特性清单</a:t>
            </a:r>
            <a:endParaRPr lang="zh-CN" sz="1750"/>
          </a:p>
          <a:p>
            <a:pPr algn="l"/>
            <a:r>
              <a:rPr lang="zh-CN" sz="122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用户可感知能力与边界</a:t>
            </a:r>
            <a:endParaRPr lang="zh-CN" sz="1220"/>
          </a:p>
        </p:txBody>
      </p:sp>
      <p:sp>
        <p:nvSpPr>
          <p:cNvPr id="14" name="P2 业务规则"/>
          <p:cNvSpPr/>
          <p:nvPr/>
        </p:nvSpPr>
        <p:spPr>
          <a:xfrm>
            <a:off x="4030000" y="2180000"/>
            <a:ext cx="1510000" cy="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91440" tIns="50000" rIns="91440" bIns="50000">
            <a:spAutoFit/>
          </a:bodyPr>
          <a:lstStyle/>
          <a:p>
            <a:pPr algn="l"/>
            <a:r>
              <a:rPr lang="zh-CN" sz="14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P2</a:t>
            </a:r>
            <a:endParaRPr lang="zh-CN" sz="1450"/>
          </a:p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业务规则</a:t>
            </a:r>
            <a:endParaRPr lang="zh-CN" sz="1750"/>
          </a:p>
          <a:p>
            <a:pPr algn="l"/>
            <a:r>
              <a:rPr lang="zh-CN" sz="122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校验、权限、显示、确认</a:t>
            </a:r>
            <a:endParaRPr lang="zh-CN" sz="1220"/>
          </a:p>
        </p:txBody>
      </p:sp>
      <p:sp>
        <p:nvSpPr>
          <p:cNvPr id="15" name="P3 耦合扫描"/>
          <p:cNvSpPr/>
          <p:nvPr/>
        </p:nvSpPr>
        <p:spPr>
          <a:xfrm>
            <a:off x="730000" y="3010000"/>
            <a:ext cx="1510000" cy="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91440" tIns="50000" rIns="91440" bIns="50000">
            <a:spAutoFit/>
          </a:bodyPr>
          <a:lstStyle/>
          <a:p>
            <a:pPr algn="l"/>
            <a:r>
              <a:rPr lang="zh-CN" sz="14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P3</a:t>
            </a:r>
            <a:endParaRPr lang="zh-CN" sz="1450"/>
          </a:p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耦合扫描</a:t>
            </a:r>
            <a:endParaRPr lang="zh-CN" sz="1750"/>
          </a:p>
          <a:p>
            <a:pPr algn="l"/>
            <a:r>
              <a:rPr lang="zh-CN" sz="122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C1-C13 分类与处理决策</a:t>
            </a:r>
            <a:endParaRPr lang="zh-CN" sz="1220"/>
          </a:p>
        </p:txBody>
      </p:sp>
      <p:sp>
        <p:nvSpPr>
          <p:cNvPr id="16" name="P4 状态清单"/>
          <p:cNvSpPr/>
          <p:nvPr/>
        </p:nvSpPr>
        <p:spPr>
          <a:xfrm>
            <a:off x="2380000" y="3010000"/>
            <a:ext cx="1510000" cy="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91440" tIns="50000" rIns="91440" bIns="50000">
            <a:spAutoFit/>
          </a:bodyPr>
          <a:lstStyle/>
          <a:p>
            <a:pPr algn="l"/>
            <a:r>
              <a:rPr lang="zh-CN" sz="14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P4</a:t>
            </a:r>
            <a:endParaRPr lang="zh-CN" sz="1450"/>
          </a:p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状态清单</a:t>
            </a:r>
            <a:endParaRPr lang="zh-CN" sz="1750"/>
          </a:p>
          <a:p>
            <a:pPr algn="l"/>
            <a:r>
              <a:rPr lang="zh-CN" sz="122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复用旧状态，最小新增</a:t>
            </a:r>
            <a:endParaRPr lang="zh-CN" sz="1220"/>
          </a:p>
        </p:txBody>
      </p:sp>
      <p:sp>
        <p:nvSpPr>
          <p:cNvPr id="17" name="P5 API 候选"/>
          <p:cNvSpPr/>
          <p:nvPr/>
        </p:nvSpPr>
        <p:spPr>
          <a:xfrm>
            <a:off x="4030000" y="3010000"/>
            <a:ext cx="1510000" cy="7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91440" tIns="50000" rIns="91440" bIns="50000">
            <a:spAutoFit/>
          </a:bodyPr>
          <a:lstStyle/>
          <a:p>
            <a:pPr algn="l"/>
            <a:r>
              <a:rPr lang="zh-CN" sz="14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P5</a:t>
            </a:r>
            <a:endParaRPr lang="zh-CN" sz="1450"/>
          </a:p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API 候选</a:t>
            </a:r>
            <a:endParaRPr lang="zh-CN" sz="1750"/>
          </a:p>
          <a:p>
            <a:pPr algn="l"/>
            <a:r>
              <a:rPr lang="zh-CN" sz="122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REST、轮询、文件与外部工具</a:t>
            </a:r>
            <a:endParaRPr lang="zh-CN" sz="1220"/>
          </a:p>
        </p:txBody>
      </p:sp>
      <p:sp>
        <p:nvSpPr>
          <p:cNvPr id="18" name="P6 前端生成规格"/>
          <p:cNvSpPr/>
          <p:nvPr/>
        </p:nvSpPr>
        <p:spPr>
          <a:xfrm>
            <a:off x="6260000" y="2430000"/>
            <a:ext cx="1960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91440" tIns="50000" rIns="91440" bIns="50000">
            <a:spAutoFit/>
          </a:bodyPr>
          <a:lstStyle/>
          <a:p>
            <a:pPr algn="l"/>
            <a:r>
              <a:rPr lang="zh-CN" sz="14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P6</a:t>
            </a:r>
            <a:endParaRPr lang="zh-CN" sz="1450"/>
          </a:p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前端生成规格</a:t>
            </a:r>
            <a:endParaRPr lang="zh-CN" sz="1750"/>
          </a:p>
          <a:p>
            <a:pPr algn="l"/>
            <a:r>
              <a:rPr lang="zh-CN" sz="122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页面、表单、状态渲染、API client、mock 与组件测试建议</a:t>
            </a:r>
            <a:endParaRPr lang="zh-CN" sz="1220"/>
          </a:p>
        </p:txBody>
      </p:sp>
      <p:sp>
        <p:nvSpPr>
          <p:cNvPr id="19" name="P7 黑盒用例"/>
          <p:cNvSpPr/>
          <p:nvPr/>
        </p:nvSpPr>
        <p:spPr>
          <a:xfrm>
            <a:off x="6260000" y="3520000"/>
            <a:ext cx="1960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91440" tIns="50000" rIns="91440" bIns="50000">
            <a:spAutoFit/>
          </a:bodyPr>
          <a:lstStyle/>
          <a:p>
            <a:pPr algn="l"/>
            <a:r>
              <a:rPr lang="zh-CN" sz="14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P7</a:t>
            </a:r>
            <a:endParaRPr lang="zh-CN" sz="1450"/>
          </a:p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黑盒用例</a:t>
            </a:r>
            <a:endParaRPr lang="zh-CN" sz="1750"/>
          </a:p>
          <a:p>
            <a:pPr algn="l"/>
            <a:r>
              <a:rPr lang="zh-CN" sz="122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API 级正常、异常、边界、文件和外部工具用例</a:t>
            </a:r>
            <a:endParaRPr lang="zh-CN" sz="1220"/>
          </a:p>
        </p:txBody>
      </p:sp>
      <p:sp>
        <p:nvSpPr>
          <p:cNvPr id="20" name="Design Principle"/>
          <p:cNvSpPr/>
          <p:nvPr/>
        </p:nvSpPr>
        <p:spPr>
          <a:xfrm>
            <a:off x="6260000" y="4630000"/>
            <a:ext cx="1960000" cy="4200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txBody>
          <a:bodyPr wrap="square" anchor="mid" lIns="91440" tIns="45720" rIns="91440" bIns="45720">
            <a:spAutoFit/>
          </a:bodyPr>
          <a:lstStyle/>
          <a:p>
            <a:pPr algn="ctr"/>
            <a:r>
              <a:rPr lang="zh-CN" sz="1180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rPr>
              <a:t>原则：不复刻 Swing 点击路径，围绕目标 Web 交互建模</a:t>
            </a:r>
            <a:endParaRPr lang="zh-CN" sz="1180"/>
          </a:p>
        </p:txBody>
      </p:sp>
      <p:sp>
        <p:nvSpPr>
          <p:cNvPr id="21" name="P8 执行修改生成代码"/>
          <p:cNvSpPr/>
          <p:nvPr/>
        </p:nvSpPr>
        <p:spPr>
          <a:xfrm>
            <a:off x="9225000" y="2270000"/>
            <a:ext cx="219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91440" tIns="50000" rIns="91440" bIns="50000">
            <a:spAutoFit/>
          </a:bodyPr>
          <a:lstStyle/>
          <a:p>
            <a:pPr algn="l"/>
            <a:r>
              <a:rPr lang="zh-CN" sz="1450" b="1">
                <a:solidFill>
                  <a:srgbClr val="6D28D9"/>
                </a:solidFill>
                <a:latin typeface="Microsoft YaHei"/>
                <a:ea typeface="Microsoft YaHei"/>
                <a:cs typeface="Microsoft YaHei"/>
              </a:rPr>
              <a:t>P8</a:t>
            </a:r>
            <a:endParaRPr lang="zh-CN" sz="1450"/>
          </a:p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执行修改生成代码</a:t>
            </a:r>
            <a:endParaRPr lang="zh-CN" sz="1750"/>
          </a:p>
          <a:p>
            <a:pPr algn="l"/>
            <a:r>
              <a:rPr lang="zh-CN" sz="122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确认旧源码修改清单，生成/改造后端、前端并集成</a:t>
            </a:r>
            <a:endParaRPr lang="zh-CN" sz="1220"/>
          </a:p>
        </p:txBody>
      </p:sp>
      <p:sp>
        <p:nvSpPr>
          <p:cNvPr id="22" name="P9 交叉检视验证"/>
          <p:cNvSpPr/>
          <p:nvPr/>
        </p:nvSpPr>
        <p:spPr>
          <a:xfrm>
            <a:off x="9225000" y="3170000"/>
            <a:ext cx="219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91440" tIns="50000" rIns="91440" bIns="50000">
            <a:spAutoFit/>
          </a:bodyPr>
          <a:lstStyle/>
          <a:p>
            <a:pPr algn="l"/>
            <a:r>
              <a:rPr lang="zh-CN" sz="14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P9</a:t>
            </a:r>
            <a:endParaRPr lang="zh-CN" sz="1450"/>
          </a:p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交叉检视验证</a:t>
            </a:r>
            <a:endParaRPr lang="zh-CN" sz="1750"/>
          </a:p>
          <a:p>
            <a:pPr algn="l"/>
            <a:r>
              <a:rPr lang="zh-CN" sz="122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需求追踪、架构合规、黑盒用例和静态门禁</a:t>
            </a:r>
            <a:endParaRPr lang="zh-CN" sz="1220"/>
          </a:p>
        </p:txBody>
      </p:sp>
      <p:sp>
        <p:nvSpPr>
          <p:cNvPr id="23" name="P10 沉淀复用工作流"/>
          <p:cNvSpPr/>
          <p:nvPr/>
        </p:nvSpPr>
        <p:spPr>
          <a:xfrm>
            <a:off x="9225000" y="4070000"/>
            <a:ext cx="2190000" cy="76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91440" tIns="50000" rIns="91440" bIns="50000">
            <a:spAutoFit/>
          </a:bodyPr>
          <a:lstStyle/>
          <a:p>
            <a:pPr algn="l"/>
            <a:r>
              <a:rPr lang="zh-CN" sz="145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P10</a:t>
            </a:r>
            <a:endParaRPr lang="zh-CN" sz="1450"/>
          </a:p>
          <a:p>
            <a:pPr algn="l"/>
            <a:r>
              <a:rPr lang="zh-CN" sz="17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沉淀复用工作流</a:t>
            </a:r>
            <a:endParaRPr lang="zh-CN" sz="1750"/>
          </a:p>
          <a:p>
            <a:pPr algn="l"/>
            <a:r>
              <a:rPr lang="zh-CN" sz="122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阶段入口/出口、模板资产、检查清单和复用指南</a:t>
            </a:r>
            <a:endParaRPr lang="zh-CN" sz="1220"/>
          </a:p>
        </p:txBody>
      </p:sp>
      <p:sp>
        <p:nvSpPr>
          <p:cNvPr id="24" name="Trace Ribbon"/>
          <p:cNvSpPr/>
          <p:nvPr/>
        </p:nvSpPr>
        <p:spPr>
          <a:xfrm>
            <a:off x="520000" y="5620000"/>
            <a:ext cx="11150000" cy="78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/>
          <a:lstStyle/>
          <a:p/>
        </p:txBody>
      </p:sp>
      <p:sp>
        <p:nvSpPr>
          <p:cNvPr id="25" name="Trace Title"/>
          <p:cNvSpPr/>
          <p:nvPr/>
        </p:nvSpPr>
        <p:spPr>
          <a:xfrm>
            <a:off x="760000" y="5740000"/>
            <a:ext cx="15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zh-CN"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追踪闭环</a:t>
            </a:r>
            <a:endParaRPr lang="zh-CN" sz="1500"/>
          </a:p>
        </p:txBody>
      </p:sp>
      <p:sp>
        <p:nvSpPr>
          <p:cNvPr id="26" name="Trace 特性"/>
          <p:cNvSpPr/>
          <p:nvPr/>
        </p:nvSpPr>
        <p:spPr>
          <a:xfrm>
            <a:off x="2070000" y="5725000"/>
            <a:ext cx="820000" cy="30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pPr algn="ctr"/>
            <a:r>
              <a:rPr lang="zh-CN" sz="123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特性</a:t>
            </a:r>
            <a:endParaRPr lang="zh-CN" sz="1230"/>
          </a:p>
        </p:txBody>
      </p:sp>
      <p:sp>
        <p:nvSpPr>
          <p:cNvPr id="27" name="Trace Arrow 0"/>
          <p:cNvSpPr/>
          <p:nvPr/>
        </p:nvSpPr>
        <p:spPr>
          <a:xfrm>
            <a:off x="2910000" y="5790000"/>
            <a:ext cx="185000" cy="1300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28" name="Trace 规则"/>
          <p:cNvSpPr/>
          <p:nvPr/>
        </p:nvSpPr>
        <p:spPr>
          <a:xfrm>
            <a:off x="3090000" y="5725000"/>
            <a:ext cx="820000" cy="30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pPr algn="ctr"/>
            <a:r>
              <a:rPr lang="zh-CN" sz="123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规则</a:t>
            </a:r>
            <a:endParaRPr lang="zh-CN" sz="1230"/>
          </a:p>
        </p:txBody>
      </p:sp>
      <p:sp>
        <p:nvSpPr>
          <p:cNvPr id="29" name="Trace Arrow 1"/>
          <p:cNvSpPr/>
          <p:nvPr/>
        </p:nvSpPr>
        <p:spPr>
          <a:xfrm>
            <a:off x="3930000" y="5790000"/>
            <a:ext cx="185000" cy="1300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30" name="Trace 耦合"/>
          <p:cNvSpPr/>
          <p:nvPr/>
        </p:nvSpPr>
        <p:spPr>
          <a:xfrm>
            <a:off x="4110000" y="5725000"/>
            <a:ext cx="820000" cy="30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pPr algn="ctr"/>
            <a:r>
              <a:rPr lang="zh-CN" sz="123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耦合</a:t>
            </a:r>
            <a:endParaRPr lang="zh-CN" sz="1230"/>
          </a:p>
        </p:txBody>
      </p:sp>
      <p:sp>
        <p:nvSpPr>
          <p:cNvPr id="31" name="Trace Arrow 2"/>
          <p:cNvSpPr/>
          <p:nvPr/>
        </p:nvSpPr>
        <p:spPr>
          <a:xfrm>
            <a:off x="4950000" y="5790000"/>
            <a:ext cx="185000" cy="1300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Trace 状态/API"/>
          <p:cNvSpPr/>
          <p:nvPr/>
        </p:nvSpPr>
        <p:spPr>
          <a:xfrm>
            <a:off x="5130000" y="5725000"/>
            <a:ext cx="820000" cy="30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pPr algn="ctr"/>
            <a:r>
              <a:rPr lang="zh-CN" sz="123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状态/API</a:t>
            </a:r>
            <a:endParaRPr lang="zh-CN" sz="1230"/>
          </a:p>
        </p:txBody>
      </p:sp>
      <p:sp>
        <p:nvSpPr>
          <p:cNvPr id="33" name="Trace Arrow 3"/>
          <p:cNvSpPr/>
          <p:nvPr/>
        </p:nvSpPr>
        <p:spPr>
          <a:xfrm>
            <a:off x="5970000" y="5790000"/>
            <a:ext cx="185000" cy="1300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Trace 前端规格"/>
          <p:cNvSpPr/>
          <p:nvPr/>
        </p:nvSpPr>
        <p:spPr>
          <a:xfrm>
            <a:off x="6150000" y="5725000"/>
            <a:ext cx="820000" cy="30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pPr algn="ctr"/>
            <a:r>
              <a:rPr lang="zh-CN" sz="123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前端规格</a:t>
            </a:r>
            <a:endParaRPr lang="zh-CN" sz="1230"/>
          </a:p>
        </p:txBody>
      </p:sp>
      <p:sp>
        <p:nvSpPr>
          <p:cNvPr id="35" name="Trace Arrow 4"/>
          <p:cNvSpPr/>
          <p:nvPr/>
        </p:nvSpPr>
        <p:spPr>
          <a:xfrm>
            <a:off x="6990000" y="5790000"/>
            <a:ext cx="185000" cy="1300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36" name="Trace 用例"/>
          <p:cNvSpPr/>
          <p:nvPr/>
        </p:nvSpPr>
        <p:spPr>
          <a:xfrm>
            <a:off x="7170000" y="5725000"/>
            <a:ext cx="820000" cy="30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pPr algn="ctr"/>
            <a:r>
              <a:rPr lang="zh-CN" sz="123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用例</a:t>
            </a:r>
            <a:endParaRPr lang="zh-CN" sz="1230"/>
          </a:p>
        </p:txBody>
      </p:sp>
      <p:sp>
        <p:nvSpPr>
          <p:cNvPr id="37" name="Trace Arrow 5"/>
          <p:cNvSpPr/>
          <p:nvPr/>
        </p:nvSpPr>
        <p:spPr>
          <a:xfrm>
            <a:off x="8010000" y="5790000"/>
            <a:ext cx="185000" cy="1300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38" name="Trace 代码"/>
          <p:cNvSpPr/>
          <p:nvPr/>
        </p:nvSpPr>
        <p:spPr>
          <a:xfrm>
            <a:off x="8190000" y="5725000"/>
            <a:ext cx="820000" cy="30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pPr algn="ctr"/>
            <a:r>
              <a:rPr lang="zh-CN" sz="123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代码</a:t>
            </a:r>
            <a:endParaRPr lang="zh-CN" sz="1230"/>
          </a:p>
        </p:txBody>
      </p:sp>
      <p:sp>
        <p:nvSpPr>
          <p:cNvPr id="39" name="Trace Arrow 6"/>
          <p:cNvSpPr/>
          <p:nvPr/>
        </p:nvSpPr>
        <p:spPr>
          <a:xfrm>
            <a:off x="9030000" y="5790000"/>
            <a:ext cx="185000" cy="1300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" name="Trace 验证"/>
          <p:cNvSpPr/>
          <p:nvPr/>
        </p:nvSpPr>
        <p:spPr>
          <a:xfrm>
            <a:off x="9210000" y="5725000"/>
            <a:ext cx="820000" cy="30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pPr algn="ctr"/>
            <a:r>
              <a:rPr lang="zh-CN" sz="123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验证</a:t>
            </a:r>
            <a:endParaRPr lang="zh-CN" sz="1230"/>
          </a:p>
        </p:txBody>
      </p:sp>
      <p:sp>
        <p:nvSpPr>
          <p:cNvPr id="41" name="Trace Arrow 7"/>
          <p:cNvSpPr/>
          <p:nvPr/>
        </p:nvSpPr>
        <p:spPr>
          <a:xfrm>
            <a:off x="10050000" y="5790000"/>
            <a:ext cx="185000" cy="130000"/>
          </a:xfrm>
          <a:prstGeom prst="rightArrow">
            <a:avLst/>
          </a:prstGeom>
          <a:solidFill>
            <a:srgbClr val="CBD5E1"/>
          </a:solidFill>
          <a:ln>
            <a:noFill/>
          </a:ln>
        </p:spPr>
        <p:txBody>
          <a:bodyPr/>
          <a:lstStyle/>
          <a:p/>
        </p:txBody>
      </p:sp>
      <p:sp>
        <p:nvSpPr>
          <p:cNvPr id="42" name="Trace 复用"/>
          <p:cNvSpPr/>
          <p:nvPr/>
        </p:nvSpPr>
        <p:spPr>
          <a:xfrm>
            <a:off x="10230000" y="5725000"/>
            <a:ext cx="820000" cy="3000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txBody>
          <a:bodyPr wrap="square" anchor="mid" lIns="0" tIns="0" rIns="0" bIns="0">
            <a:spAutoFit/>
          </a:bodyPr>
          <a:lstStyle/>
          <a:p>
            <a:pPr algn="ctr"/>
            <a:r>
              <a:rPr lang="zh-CN" sz="123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复用</a:t>
            </a:r>
            <a:endParaRPr lang="zh-CN" sz="1230"/>
          </a:p>
        </p:txBody>
      </p:sp>
      <p:sp>
        <p:nvSpPr>
          <p:cNvPr id="43" name="Trace Note"/>
          <p:cNvSpPr/>
          <p:nvPr/>
        </p:nvSpPr>
        <p:spPr>
          <a:xfrm>
            <a:off x="760000" y="6130000"/>
            <a:ext cx="1038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>
            <a:spAutoFit/>
          </a:bodyPr>
          <a:lstStyle/>
          <a:p>
            <a:pPr algn="l"/>
            <a:r>
              <a:rPr lang="zh-CN" sz="116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每个阶段保留来源证据，确保从旧 UI / 代码规则到目标 API、前端、测试和源码修改可审计。</a:t>
            </a:r>
            <a:endParaRPr lang="zh-CN" sz="116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martKit Theme">
  <a:themeElements>
    <a:clrScheme name="SmartKit">
      <a:dk1>
        <a:srgbClr val="0F172A"/>
      </a:dk1>
      <a:lt1>
        <a:srgbClr val="F8FAFC"/>
      </a:lt1>
      <a:dk2>
        <a:srgbClr val="334155"/>
      </a:dk2>
      <a:lt2>
        <a:srgbClr val="E2E8F0"/>
      </a:lt2>
      <a:accent1>
        <a:srgbClr val="2563EB"/>
      </a:accent1>
      <a:accent2>
        <a:srgbClr val="0F766E"/>
      </a:accent2>
      <a:accent3>
        <a:srgbClr val="F59E0B"/>
      </a:accent3>
      <a:accent4>
        <a:srgbClr val="7C3AED"/>
      </a:accent4>
      <a:accent5>
        <a:srgbClr val="059669"/>
      </a:accent5>
      <a:accent6>
        <a:srgbClr val="DC2626"/>
      </a:accent6>
      <a:hlink>
        <a:srgbClr val="2563EB"/>
      </a:hlink>
      <a:folHlink>
        <a:srgbClr val="7C3AED"/>
      </a:folHlink>
    </a:clrScheme>
    <a:fontScheme name="SmartKit Fonts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SmartKit Forma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SmartKit 工具箱 WEB 化改造十阶段工作流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SmartKit 工具箱 WEB 化改造十阶段工作流</dc:title>
  <dc:creator>Codex</dc:creator>
  <cp:lastModifiedBy>Codex</cp:lastModifiedBy>
  <dcterms:created xsi:type="dcterms:W3CDTF">2026-06-24T07:51:06Z</dcterms:created>
  <dcterms:modified xsi:type="dcterms:W3CDTF">2026-06-24T07:51:06Z</dcterms:modified>
</cp:coreProperties>
</file>